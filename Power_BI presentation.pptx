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8" r:id="rId3"/>
    <p:sldId id="260" r:id="rId4"/>
    <p:sldId id="261" r:id="rId5"/>
    <p:sldId id="262" r:id="rId6"/>
    <p:sldId id="271" r:id="rId7"/>
    <p:sldId id="264" r:id="rId8"/>
    <p:sldId id="270" r:id="rId9"/>
    <p:sldId id="273" r:id="rId10"/>
    <p:sldId id="274" r:id="rId11"/>
    <p:sldId id="275" r:id="rId12"/>
    <p:sldId id="276" r:id="rId13"/>
    <p:sldId id="277" r:id="rId14"/>
    <p:sldId id="269" r:id="rId15"/>
    <p:sldId id="267"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Libre Baskerville"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DD777-EEFE-4192-8427-5CE1B00AF639}" v="4" dt="2026-09-09T04:30:39.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6"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53703"/>
            <a:ext cx="12190815" cy="6182139"/>
          </a:xfrm>
          <a:prstGeom prst="rect">
            <a:avLst/>
          </a:prstGeom>
          <a:noFill/>
          <a:ln>
            <a:noFill/>
          </a:ln>
        </p:spPr>
      </p:pic>
      <p:sp>
        <p:nvSpPr>
          <p:cNvPr id="99" name="Google Shape;99;p1"/>
          <p:cNvSpPr txBox="1"/>
          <p:nvPr/>
        </p:nvSpPr>
        <p:spPr>
          <a:xfrm>
            <a:off x="2551563" y="3608825"/>
            <a:ext cx="7246189" cy="553957"/>
          </a:xfrm>
          <a:prstGeom prst="rect">
            <a:avLst/>
          </a:prstGeom>
          <a:noFill/>
          <a:ln>
            <a:noFill/>
          </a:ln>
        </p:spPr>
        <p:txBody>
          <a:bodyPr spcFirstLastPara="1" wrap="square" lIns="91425" tIns="45700" rIns="91425" bIns="45700" anchor="t" anchorCtr="0">
            <a:spAutoFit/>
          </a:bodyPr>
          <a:lstStyle/>
          <a:p>
            <a:pPr lvl="0" algn="ctr"/>
            <a:r>
              <a:rPr lang="en-US" sz="3000" b="1" dirty="0">
                <a:solidFill>
                  <a:srgbClr val="7030A0"/>
                </a:solidFill>
                <a:latin typeface="Times New Roman" panose="02020603050405020304" pitchFamily="18" charset="0"/>
                <a:cs typeface="Times New Roman" panose="02020603050405020304" pitchFamily="18" charset="0"/>
              </a:rPr>
              <a:t>Bank Customer </a:t>
            </a:r>
            <a:r>
              <a:rPr lang="en-US" sz="3000" b="1" dirty="0" smtClean="0">
                <a:solidFill>
                  <a:srgbClr val="7030A0"/>
                </a:solidFill>
                <a:latin typeface="Times New Roman" panose="02020603050405020304" pitchFamily="18" charset="0"/>
                <a:cs typeface="Times New Roman" panose="02020603050405020304" pitchFamily="18" charset="0"/>
              </a:rPr>
              <a:t>Segmentation</a:t>
            </a:r>
            <a:endParaRPr sz="3000" b="1" dirty="0">
              <a:solidFill>
                <a:srgbClr val="7030A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399FB78-9CA0-06D5-4E83-C779B374E598}"/>
              </a:ext>
            </a:extLst>
          </p:cNvPr>
          <p:cNvSpPr txBox="1"/>
          <p:nvPr/>
        </p:nvSpPr>
        <p:spPr>
          <a:xfrm>
            <a:off x="7921483" y="5090734"/>
            <a:ext cx="3081131" cy="584775"/>
          </a:xfrm>
          <a:prstGeom prst="rect">
            <a:avLst/>
          </a:prstGeom>
          <a:noFill/>
        </p:spPr>
        <p:txBody>
          <a:bodyPr wrap="square" rtlCol="0">
            <a:spAutoFit/>
          </a:bodyPr>
          <a:lstStyle/>
          <a:p>
            <a:pPr algn="ctr"/>
            <a:r>
              <a:rPr lang="en-US" sz="1600" b="1" dirty="0">
                <a:latin typeface="+mj-lt"/>
                <a:cs typeface="Times New Roman" panose="02020603050405020304" pitchFamily="18" charset="0"/>
              </a:rPr>
              <a:t>L. NANDINI</a:t>
            </a:r>
          </a:p>
          <a:p>
            <a:pPr algn="ctr"/>
            <a:r>
              <a:rPr lang="en-US" sz="1600" b="1" dirty="0">
                <a:latin typeface="+mj-lt"/>
                <a:cs typeface="Times New Roman" panose="02020603050405020304" pitchFamily="18" charset="0"/>
              </a:rPr>
              <a:t>R. SINDHU</a:t>
            </a:r>
            <a:r>
              <a:rPr lang="en-IN" sz="1600" b="1" dirty="0">
                <a:latin typeface="+mj-lt"/>
                <a:cs typeface="Times New Roman" panose="02020603050405020304" pitchFamily="18" charset="0"/>
              </a:rPr>
              <a:t> </a:t>
            </a:r>
          </a:p>
        </p:txBody>
      </p:sp>
      <p:sp>
        <p:nvSpPr>
          <p:cNvPr id="4" name="TextBox 3">
            <a:extLst>
              <a:ext uri="{FF2B5EF4-FFF2-40B4-BE49-F238E27FC236}">
                <a16:creationId xmlns:a16="http://schemas.microsoft.com/office/drawing/2014/main" id="{6AA6AA45-4F9A-C8C2-3BE5-EA6553751569}"/>
              </a:ext>
            </a:extLst>
          </p:cNvPr>
          <p:cNvSpPr txBox="1"/>
          <p:nvPr/>
        </p:nvSpPr>
        <p:spPr>
          <a:xfrm>
            <a:off x="8587406" y="4752180"/>
            <a:ext cx="1749287" cy="338554"/>
          </a:xfrm>
          <a:prstGeom prst="rect">
            <a:avLst/>
          </a:prstGeom>
          <a:noFill/>
        </p:spPr>
        <p:txBody>
          <a:bodyPr wrap="square" rtlCol="0">
            <a:spAutoFit/>
          </a:bodyPr>
          <a:lstStyle/>
          <a:p>
            <a:pPr algn="ctr"/>
            <a:r>
              <a:rPr lang="en-IN" sz="1600" b="1" dirty="0">
                <a:solidFill>
                  <a:schemeClr val="accent6">
                    <a:lumMod val="75000"/>
                  </a:schemeClr>
                </a:solidFill>
              </a:rPr>
              <a:t>Presented By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a:solidFill>
                  <a:srgbClr val="FF0000"/>
                </a:solidFill>
              </a:rPr>
              <a:t>Agenda (This should be the PPT flow)  </a:t>
            </a:r>
            <a:endParaRPr b="1">
              <a:solidFill>
                <a:srgbClr val="FF0000"/>
              </a:solidFill>
            </a:endParaRPr>
          </a:p>
        </p:txBody>
      </p:sp>
      <p:sp>
        <p:nvSpPr>
          <p:cNvPr id="2" name="Rectangle 1"/>
          <p:cNvSpPr>
            <a:spLocks noChangeArrowheads="1"/>
          </p:cNvSpPr>
          <p:nvPr/>
        </p:nvSpPr>
        <p:spPr bwMode="auto">
          <a:xfrm>
            <a:off x="345632" y="1182370"/>
            <a:ext cx="953008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Introduction to Bank Customer Segmentation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 Overview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Preprocessing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Exploratory Data Analysis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 Demographics Analysis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Transaction Behavior Analysis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 Segmentation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 Profitability Analysis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Conclusion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84D2-916F-8236-1546-833E8A5EF102}"/>
              </a:ext>
            </a:extLst>
          </p:cNvPr>
          <p:cNvSpPr>
            <a:spLocks noGrp="1"/>
          </p:cNvSpPr>
          <p:nvPr>
            <p:ph type="title"/>
          </p:nvPr>
        </p:nvSpPr>
        <p:spPr/>
        <p:txBody>
          <a:bodyPr/>
          <a:lstStyle/>
          <a:p>
            <a:r>
              <a:rPr lang="en-IN" dirty="0" smtClean="0">
                <a:solidFill>
                  <a:srgbClr val="FF0000"/>
                </a:solidFill>
                <a:latin typeface="Times New Roman" panose="02020603050405020304" pitchFamily="18" charset="0"/>
                <a:cs typeface="Times New Roman" panose="02020603050405020304" pitchFamily="18" charset="0"/>
              </a:rPr>
              <a:t>Project Overview</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body" idx="1"/>
          </p:nvPr>
        </p:nvSpPr>
        <p:spPr bwMode="auto">
          <a:xfrm>
            <a:off x="918582" y="1521411"/>
            <a:ext cx="1078051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altLang="en-US" sz="2200" b="1" dirty="0" smtClean="0">
                <a:solidFill>
                  <a:schemeClr val="tx1"/>
                </a:solidFill>
                <a:latin typeface="Times New Roman" panose="02020603050405020304" pitchFamily="18" charset="0"/>
                <a:cs typeface="Times New Roman" panose="02020603050405020304" pitchFamily="18" charset="0"/>
              </a:rPr>
              <a:t>Introduction</a:t>
            </a:r>
            <a:endParaRPr lang="en-US" altLang="en-US" sz="22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2200" dirty="0">
                <a:solidFill>
                  <a:schemeClr val="tx1"/>
                </a:solidFill>
                <a:latin typeface="Times New Roman" panose="02020603050405020304" pitchFamily="18" charset="0"/>
                <a:cs typeface="Times New Roman" panose="02020603050405020304" pitchFamily="18" charset="0"/>
              </a:rPr>
              <a:t>Bank Customer Segmentation is a data analysis project that examines customer </a:t>
            </a:r>
            <a:r>
              <a:rPr lang="en-US" altLang="en-US" sz="2200" dirty="0" smtClean="0">
                <a:solidFill>
                  <a:schemeClr val="tx1"/>
                </a:solidFill>
                <a:latin typeface="Times New Roman" panose="02020603050405020304" pitchFamily="18" charset="0"/>
                <a:cs typeface="Times New Roman" panose="02020603050405020304" pitchFamily="18" charset="0"/>
              </a:rPr>
              <a:t>demographics</a:t>
            </a:r>
          </a:p>
          <a:p>
            <a:pPr marL="0" lvl="0" indent="0" eaLnBrk="0" fontAlgn="base" hangingPunct="0">
              <a:lnSpc>
                <a:spcPct val="100000"/>
              </a:lnSpc>
              <a:spcBef>
                <a:spcPct val="0"/>
              </a:spcBef>
              <a:spcAft>
                <a:spcPct val="0"/>
              </a:spcAft>
              <a:buClrTx/>
              <a:buSzTx/>
              <a:buNone/>
            </a:pPr>
            <a:r>
              <a:rPr lang="en-US" altLang="en-US" sz="2200" dirty="0" smtClean="0">
                <a:solidFill>
                  <a:schemeClr val="tx1"/>
                </a:solidFill>
                <a:latin typeface="Times New Roman" panose="02020603050405020304" pitchFamily="18" charset="0"/>
                <a:cs typeface="Times New Roman" panose="02020603050405020304" pitchFamily="18" charset="0"/>
              </a:rPr>
              <a:t>and </a:t>
            </a:r>
            <a:r>
              <a:rPr lang="en-US" altLang="en-US" sz="2200" dirty="0">
                <a:solidFill>
                  <a:schemeClr val="tx1"/>
                </a:solidFill>
                <a:latin typeface="Times New Roman" panose="02020603050405020304" pitchFamily="18" charset="0"/>
                <a:cs typeface="Times New Roman" panose="02020603050405020304" pitchFamily="18" charset="0"/>
              </a:rPr>
              <a:t>transaction behavior using banking transaction data. </a:t>
            </a:r>
            <a:r>
              <a:rPr lang="en-US" altLang="en-US" sz="2200" dirty="0" smtClean="0">
                <a:solidFill>
                  <a:schemeClr val="tx1"/>
                </a:solidFill>
                <a:latin typeface="Times New Roman" panose="02020603050405020304" pitchFamily="18" charset="0"/>
                <a:cs typeface="Times New Roman" panose="02020603050405020304" pitchFamily="18" charset="0"/>
              </a:rPr>
              <a:t>The </a:t>
            </a:r>
            <a:r>
              <a:rPr lang="en-US" altLang="en-US" sz="2200" dirty="0">
                <a:solidFill>
                  <a:schemeClr val="tx1"/>
                </a:solidFill>
                <a:latin typeface="Times New Roman" panose="02020603050405020304" pitchFamily="18" charset="0"/>
                <a:cs typeface="Times New Roman" panose="02020603050405020304" pitchFamily="18" charset="0"/>
              </a:rPr>
              <a:t>analysis helps identify </a:t>
            </a:r>
            <a:r>
              <a:rPr lang="en-US" altLang="en-US" sz="2200" dirty="0" smtClean="0">
                <a:solidFill>
                  <a:schemeClr val="tx1"/>
                </a:solidFill>
                <a:latin typeface="Times New Roman" panose="02020603050405020304" pitchFamily="18" charset="0"/>
                <a:cs typeface="Times New Roman" panose="02020603050405020304" pitchFamily="18" charset="0"/>
              </a:rPr>
              <a:t>customer</a:t>
            </a:r>
          </a:p>
          <a:p>
            <a:pPr marL="0" lvl="0" indent="0" eaLnBrk="0" fontAlgn="base" hangingPunct="0">
              <a:lnSpc>
                <a:spcPct val="100000"/>
              </a:lnSpc>
              <a:spcBef>
                <a:spcPct val="0"/>
              </a:spcBef>
              <a:spcAft>
                <a:spcPct val="0"/>
              </a:spcAft>
              <a:buClrTx/>
              <a:buSzTx/>
              <a:buNone/>
            </a:pPr>
            <a:r>
              <a:rPr lang="en-US" altLang="en-US" sz="2200" dirty="0" smtClean="0">
                <a:solidFill>
                  <a:schemeClr val="tx1"/>
                </a:solidFill>
                <a:latin typeface="Times New Roman" panose="02020603050405020304" pitchFamily="18" charset="0"/>
                <a:cs typeface="Times New Roman" panose="02020603050405020304" pitchFamily="18" charset="0"/>
              </a:rPr>
              <a:t>segments</a:t>
            </a:r>
            <a:r>
              <a:rPr lang="en-US" altLang="en-US" sz="2200" dirty="0">
                <a:solidFill>
                  <a:schemeClr val="tx1"/>
                </a:solidFill>
                <a:latin typeface="Times New Roman" panose="02020603050405020304" pitchFamily="18" charset="0"/>
                <a:cs typeface="Times New Roman" panose="02020603050405020304" pitchFamily="18" charset="0"/>
              </a:rPr>
              <a:t>, understand spending patterns, and evaluate customer profitability using Power BI.</a:t>
            </a:r>
            <a:endParaRPr lang="en-US" altLang="en-US" sz="22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endParaRPr lang="en-US" altLang="en-US" sz="2200" b="1" dirty="0" smtClean="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2200" b="1" dirty="0" smtClean="0">
                <a:solidFill>
                  <a:schemeClr val="tx1"/>
                </a:solidFill>
                <a:latin typeface="Times New Roman" panose="02020603050405020304" pitchFamily="18" charset="0"/>
                <a:cs typeface="Times New Roman" panose="02020603050405020304" pitchFamily="18" charset="0"/>
              </a:rPr>
              <a:t>Objectives</a:t>
            </a:r>
            <a:endParaRPr lang="en-US" altLang="en-US" sz="2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analyze customer demographics such as age, gender, and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study transaction patterns, frequency, and transaction amounts.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segment customers based on their transaction behavior and RFM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analyze customer revenue, account balances, and profitability across different segments.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112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DCAE-13B4-AA12-D7F4-01607CCAF71D}"/>
              </a:ext>
            </a:extLst>
          </p:cNvPr>
          <p:cNvSpPr>
            <a:spLocks noGrp="1"/>
          </p:cNvSpPr>
          <p:nvPr>
            <p:ph type="title"/>
          </p:nvPr>
        </p:nvSpPr>
        <p:spPr>
          <a:xfrm>
            <a:off x="631722" y="18255"/>
            <a:ext cx="10515600" cy="1325563"/>
          </a:xfrm>
        </p:spPr>
        <p: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Understanding the Dataset</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0E5CDB5-287F-5FC1-7D74-778FC3C9AFDF}"/>
              </a:ext>
            </a:extLst>
          </p:cNvPr>
          <p:cNvSpPr>
            <a:spLocks noGrp="1"/>
          </p:cNvSpPr>
          <p:nvPr>
            <p:ph type="body" idx="1"/>
          </p:nvPr>
        </p:nvSpPr>
        <p:spPr>
          <a:xfrm>
            <a:off x="390409" y="1188368"/>
            <a:ext cx="11212311" cy="5208848"/>
          </a:xfrm>
        </p:spPr>
        <p:txBody>
          <a:bodyPr>
            <a:normAutofit/>
          </a:bodyPr>
          <a:lstStyle/>
          <a:p>
            <a:pPr marL="114300" indent="0">
              <a:lnSpc>
                <a:spcPct val="100000"/>
              </a:lnSpc>
              <a:buNone/>
            </a:pPr>
            <a:r>
              <a:rPr lang="en-US" sz="2000" dirty="0">
                <a:latin typeface="Times New Roman" panose="02020603050405020304" pitchFamily="18" charset="0"/>
                <a:cs typeface="Times New Roman" panose="02020603050405020304" pitchFamily="18" charset="0"/>
              </a:rPr>
              <a:t>The dataset contains information about bank customers and their financial transactions. It includes </a:t>
            </a:r>
            <a:r>
              <a:rPr lang="en-US" sz="2000" b="1" dirty="0">
                <a:latin typeface="Times New Roman" panose="02020603050405020304" pitchFamily="18" charset="0"/>
                <a:cs typeface="Times New Roman" panose="02020603050405020304" pitchFamily="18" charset="0"/>
              </a:rPr>
              <a:t>1,048,567 </a:t>
            </a:r>
            <a:r>
              <a:rPr lang="en-US" sz="2000" dirty="0">
                <a:latin typeface="Times New Roman" panose="02020603050405020304" pitchFamily="18" charset="0"/>
                <a:cs typeface="Times New Roman" panose="02020603050405020304" pitchFamily="18" charset="0"/>
              </a:rPr>
              <a:t>transaction records with customer demographics, account information, and transaction details</a:t>
            </a:r>
            <a:r>
              <a:rPr lang="en-US"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114300" indent="0">
              <a:lnSpc>
                <a:spcPct val="100000"/>
              </a:lnSpc>
              <a:buNone/>
            </a:pPr>
            <a:r>
              <a:rPr lang="en-IN" sz="2000" dirty="0" smtClean="0">
                <a:latin typeface="Times New Roman" panose="02020603050405020304" pitchFamily="18" charset="0"/>
                <a:cs typeface="Times New Roman" panose="02020603050405020304" pitchFamily="18" charset="0"/>
              </a:rPr>
              <a:t>Features include:</a:t>
            </a:r>
          </a:p>
          <a:p>
            <a:pPr>
              <a:lnSpc>
                <a:spcPct val="100000"/>
              </a:lnSpc>
            </a:pPr>
            <a:r>
              <a:rPr lang="en-IN" sz="2000" dirty="0" err="1" smtClean="0">
                <a:latin typeface="Times New Roman" panose="02020603050405020304" pitchFamily="18" charset="0"/>
                <a:cs typeface="Times New Roman" panose="02020603050405020304" pitchFamily="18" charset="0"/>
              </a:rPr>
              <a:t>Transaction_id</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Customer_id</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Customer_DOB</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Cust_gender</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Cust_Location</a:t>
            </a:r>
            <a:r>
              <a:rPr lang="en-IN" sz="2000" dirty="0" smtClean="0">
                <a:latin typeface="Times New Roman" panose="02020603050405020304" pitchFamily="18" charset="0"/>
                <a:cs typeface="Times New Roman" panose="02020603050405020304" pitchFamily="18" charset="0"/>
              </a:rPr>
              <a:t> </a:t>
            </a:r>
          </a:p>
          <a:p>
            <a:pPr>
              <a:lnSpc>
                <a:spcPct val="100000"/>
              </a:lnSpc>
            </a:pPr>
            <a:r>
              <a:rPr lang="en-IN" sz="2000" dirty="0" err="1" smtClean="0">
                <a:latin typeface="Times New Roman" panose="02020603050405020304" pitchFamily="18" charset="0"/>
                <a:cs typeface="Times New Roman" panose="02020603050405020304" pitchFamily="18" charset="0"/>
              </a:rPr>
              <a:t>Cust_Account_Balance</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Transaction_Date</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Transaction_Time</a:t>
            </a:r>
            <a:endParaRPr lang="en-IN" sz="2000" dirty="0" smtClean="0">
              <a:latin typeface="Times New Roman" panose="02020603050405020304" pitchFamily="18" charset="0"/>
              <a:cs typeface="Times New Roman" panose="02020603050405020304" pitchFamily="18" charset="0"/>
            </a:endParaRPr>
          </a:p>
          <a:p>
            <a:pPr>
              <a:lnSpc>
                <a:spcPct val="100000"/>
              </a:lnSpc>
            </a:pPr>
            <a:r>
              <a:rPr lang="en-IN" sz="2000" dirty="0" err="1" smtClean="0">
                <a:latin typeface="Times New Roman" panose="02020603050405020304" pitchFamily="18" charset="0"/>
                <a:cs typeface="Times New Roman" panose="02020603050405020304" pitchFamily="18" charset="0"/>
              </a:rPr>
              <a:t>Transaction_Amount</a:t>
            </a:r>
            <a:r>
              <a:rPr lang="en-IN" sz="2000" dirty="0" smtClean="0">
                <a:latin typeface="Times New Roman" panose="02020603050405020304" pitchFamily="18" charset="0"/>
                <a:cs typeface="Times New Roman" panose="02020603050405020304" pitchFamily="18" charset="0"/>
              </a:rPr>
              <a:t>(INR)</a:t>
            </a:r>
          </a:p>
          <a:p>
            <a:pPr marL="114300" indent="0">
              <a:lnSpc>
                <a:spcPct val="100000"/>
              </a:lnSpc>
              <a:buNone/>
            </a:pPr>
            <a:endParaRPr lang="en-IN"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087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05A0F-CE49-4BDB-E75F-285FC4924C22}"/>
              </a:ext>
            </a:extLst>
          </p:cNvPr>
          <p:cNvSpPr>
            <a:spLocks noGrp="1"/>
          </p:cNvSpPr>
          <p:nvPr>
            <p:ph type="title"/>
          </p:nvPr>
        </p:nvSpPr>
        <p:spPr>
          <a:xfrm>
            <a:off x="762000" y="-155985"/>
            <a:ext cx="10515600" cy="1325563"/>
          </a:xfrm>
        </p:spPr>
        <p:txBody>
          <a:bodyPr/>
          <a:lstStyle/>
          <a:p>
            <a:r>
              <a:rPr lang="en-US" dirty="0" smtClean="0">
                <a:solidFill>
                  <a:srgbClr val="FF0000"/>
                </a:solidFill>
                <a:latin typeface="Times New Roman" panose="02020603050405020304" pitchFamily="18" charset="0"/>
                <a:cs typeface="Times New Roman" panose="02020603050405020304" pitchFamily="18" charset="0"/>
              </a:rPr>
              <a:t>                Data </a:t>
            </a:r>
            <a:r>
              <a:rPr lang="en-US" dirty="0">
                <a:solidFill>
                  <a:srgbClr val="FF0000"/>
                </a:solidFill>
                <a:latin typeface="Times New Roman" panose="02020603050405020304" pitchFamily="18" charset="0"/>
                <a:cs typeface="Times New Roman" panose="02020603050405020304" pitchFamily="18" charset="0"/>
              </a:rPr>
              <a:t>Preprocessing </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06465A4D-342D-4A87-F79D-86B6C02771F1}"/>
              </a:ext>
            </a:extLst>
          </p:cNvPr>
          <p:cNvSpPr>
            <a:spLocks noGrp="1"/>
          </p:cNvSpPr>
          <p:nvPr>
            <p:ph type="body" idx="1"/>
          </p:nvPr>
        </p:nvSpPr>
        <p:spPr>
          <a:xfrm>
            <a:off x="4140200" y="1285331"/>
            <a:ext cx="6183086" cy="5284970"/>
          </a:xfrm>
        </p:spPr>
        <p:txBody>
          <a:bodyPr>
            <a:normAutofit/>
          </a:bodyPr>
          <a:lstStyle/>
          <a:p>
            <a:pPr marL="114300" indent="0">
              <a:buNone/>
            </a:pPr>
            <a:r>
              <a:rPr lang="en-US" sz="2400" dirty="0">
                <a:latin typeface="Times New Roman" panose="02020603050405020304" pitchFamily="18" charset="0"/>
                <a:cs typeface="Times New Roman" panose="02020603050405020304" pitchFamily="18" charset="0"/>
              </a:rPr>
              <a:t>Raw Data</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Missing Value Handling</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Data Cleaning</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Data Type Conversion</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Feature Engineering</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Feature Selection</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Prepared Dataset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41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1"/>
            <a:ext cx="10515600" cy="701040"/>
          </a:xfrm>
        </p:spPr>
        <p:txBody>
          <a:bodyPr/>
          <a:lstStyle/>
          <a:p>
            <a:pPr lvl="0" eaLnBrk="0" fontAlgn="base" hangingPunct="0">
              <a:spcBef>
                <a:spcPct val="0"/>
              </a:spcBef>
              <a:spcAft>
                <a:spcPct val="0"/>
              </a:spcAft>
              <a:buClrTx/>
              <a:buSzTx/>
            </a:pPr>
            <a:r>
              <a:rPr lang="en-US" altLang="en-US" dirty="0">
                <a:solidFill>
                  <a:srgbClr val="FF0000"/>
                </a:solidFill>
                <a:latin typeface="Times New Roman" panose="02020603050405020304" pitchFamily="18" charset="0"/>
                <a:cs typeface="Times New Roman" panose="02020603050405020304" pitchFamily="18" charset="0"/>
              </a:rPr>
              <a:t>Exploratory Data Analysis </a:t>
            </a:r>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900" y="873759"/>
            <a:ext cx="10776900" cy="5303203"/>
          </a:xfrm>
          <a:prstGeom prst="rect">
            <a:avLst/>
          </a:prstGeom>
        </p:spPr>
      </p:pic>
    </p:spTree>
    <p:extLst>
      <p:ext uri="{BB962C8B-B14F-4D97-AF65-F5344CB8AC3E}">
        <p14:creationId xmlns:p14="http://schemas.microsoft.com/office/powerpoint/2010/main" val="1982159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EDB45-B4AB-5983-C118-0DE3900948B3}"/>
              </a:ext>
            </a:extLst>
          </p:cNvPr>
          <p:cNvSpPr>
            <a:spLocks noGrp="1"/>
          </p:cNvSpPr>
          <p:nvPr>
            <p:ph type="title"/>
          </p:nvPr>
        </p:nvSpPr>
        <p:spPr>
          <a:xfrm>
            <a:off x="762000" y="18255"/>
            <a:ext cx="10515600" cy="1325563"/>
          </a:xfrm>
        </p:spPr>
        <p:txBody>
          <a:bodyPr/>
          <a:lstStyle/>
          <a:p>
            <a:pPr algn="ctr"/>
            <a:r>
              <a:rPr lang="en-IN" dirty="0" smtClean="0">
                <a:solidFill>
                  <a:srgbClr val="FF0000"/>
                </a:solidFill>
                <a:latin typeface="Times New Roman" panose="02020603050405020304" pitchFamily="18" charset="0"/>
                <a:cs typeface="Times New Roman" panose="02020603050405020304" pitchFamily="18" charset="0"/>
              </a:rPr>
              <a:t>Explanation from Dashboard</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762000" y="1476911"/>
            <a:ext cx="1132233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dashboard has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882K customers</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an average age of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40.28 years</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There are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673K male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268K female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customers.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Customers are spread across around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9K locations</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26–35 age group</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has the highest number of customers. </a:t>
            </a:r>
          </a:p>
          <a:p>
            <a:pPr marL="342900" eaLnBrk="0" fontAlgn="base" hangingPunct="0">
              <a:lnSpc>
                <a:spcPct val="150000"/>
              </a:lnSpc>
              <a:spcBef>
                <a:spcPct val="0"/>
              </a:spcBef>
              <a:spcAft>
                <a:spcPct val="0"/>
              </a:spcAft>
              <a:buClrTx/>
              <a:buSzTx/>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Mumbai, New Delhi, Bangalore, Gurgaon, Delhi, and Noida</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are the major locations shown.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dashboard allows filtering by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Age Group, Gender, and Location</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23295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0D5B-E008-15BE-10C1-B08CA3664826}"/>
            </a:ext>
          </a:extLst>
        </p:cNvPr>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Text Placeholder 4"/>
          <p:cNvSpPr>
            <a:spLocks noGrp="1"/>
          </p:cNvSpPr>
          <p:nvPr>
            <p:ph type="body" idx="1"/>
          </p:nvPr>
        </p:nvSpPr>
        <p:spPr/>
        <p:txBody>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4158"/>
            <a:ext cx="10626725" cy="6030174"/>
          </a:xfrm>
          <a:prstGeom prst="rect">
            <a:avLst/>
          </a:prstGeom>
        </p:spPr>
      </p:pic>
    </p:spTree>
    <p:extLst>
      <p:ext uri="{BB962C8B-B14F-4D97-AF65-F5344CB8AC3E}">
        <p14:creationId xmlns:p14="http://schemas.microsoft.com/office/powerpoint/2010/main" val="204373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Explanation From Dashboard</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nvSpPr>
        <p:spPr bwMode="auto">
          <a:xfrm>
            <a:off x="695960" y="1390512"/>
            <a:ext cx="1080008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dashboard shows a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total transaction volume of ₹1.64 billion</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representing the </a:t>
            </a:r>
          </a:p>
          <a:p>
            <a:pPr lvl="0" eaLnBrk="0" fontAlgn="base" hangingPunct="0">
              <a:spcBef>
                <a:spcPct val="0"/>
              </a:spcBef>
              <a:spcAft>
                <a:spcPct val="0"/>
              </a:spcAft>
              <a:buClrTx/>
            </a:pPr>
            <a:r>
              <a:rPr lang="en-US" altLang="en-US" sz="2200" dirty="0" smtClean="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overall value of all </a:t>
            </a:r>
            <a:r>
              <a:rPr lang="en-US" altLang="en-US" sz="2200" dirty="0">
                <a:solidFill>
                  <a:schemeClr val="tx1"/>
                </a:solidFill>
                <a:latin typeface="Times New Roman" panose="02020603050405020304" pitchFamily="18" charset="0"/>
                <a:cs typeface="Times New Roman" panose="02020603050405020304" pitchFamily="18" charset="0"/>
              </a:rPr>
              <a:t>transactions.</a:t>
            </a: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average transaction amount is ₹1.57K</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showing the typical value of a transaction.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highest transaction value is ₹1.56 million</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indicating the largest individual transaction.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average account balance is ₹114.90K</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representing the average balance maintained by</a:t>
            </a:r>
            <a:r>
              <a:rPr lang="en-US" altLang="en-US" sz="2200" dirty="0" smtClean="0">
                <a:solidFill>
                  <a:schemeClr val="tx1"/>
                </a:solidFill>
                <a:latin typeface="Times New Roman" panose="02020603050405020304" pitchFamily="18" charset="0"/>
                <a:cs typeface="Times New Roman" panose="02020603050405020304" pitchFamily="18" charset="0"/>
              </a:rPr>
              <a:t>    customers</a:t>
            </a:r>
            <a:r>
              <a:rPr lang="en-US" altLang="en-US" sz="2200" dirty="0">
                <a:solidFill>
                  <a:schemeClr val="tx1"/>
                </a:solidFill>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Transaction activity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varies across different days</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some days recording higher transaction</a:t>
            </a:r>
          </a:p>
          <a:p>
            <a:pPr eaLnBrk="0" fontAlgn="base" hangingPunct="0">
              <a:spcBef>
                <a:spcPct val="0"/>
              </a:spcBef>
              <a:spcAft>
                <a:spcPct val="0"/>
              </a:spcAft>
              <a:buClrTx/>
            </a:pPr>
            <a:r>
              <a:rPr lang="en-US" altLang="en-US" sz="2200" dirty="0" smtClean="0">
                <a:solidFill>
                  <a:schemeClr val="tx1"/>
                </a:solidFill>
                <a:latin typeface="Times New Roman" panose="02020603050405020304" pitchFamily="18" charset="0"/>
                <a:cs typeface="Times New Roman" panose="02020603050405020304" pitchFamily="18" charset="0"/>
              </a:rPr>
              <a:t>    volumes </a:t>
            </a:r>
            <a:r>
              <a:rPr lang="en-US" altLang="en-US" sz="2200" dirty="0">
                <a:solidFill>
                  <a:schemeClr val="tx1"/>
                </a:solidFill>
                <a:latin typeface="Times New Roman" panose="02020603050405020304" pitchFamily="18" charset="0"/>
                <a:cs typeface="Times New Roman" panose="02020603050405020304" pitchFamily="18" charset="0"/>
              </a:rPr>
              <a:t>than others. </a:t>
            </a:r>
            <a:endParaRPr lang="en-US" altLang="en-US" sz="2200" dirty="0" smtClean="0">
              <a:solidFill>
                <a:schemeClr val="tx1"/>
              </a:solidFill>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Font typeface="Arial" panose="020B0604020202020204" pitchFamily="34" charset="0"/>
              <a:buChar char="•"/>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Transaction activity also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changes by hour</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showing when customers are more active in making transactions. </a:t>
            </a:r>
          </a:p>
        </p:txBody>
      </p:sp>
    </p:spTree>
    <p:extLst>
      <p:ext uri="{BB962C8B-B14F-4D97-AF65-F5344CB8AC3E}">
        <p14:creationId xmlns:p14="http://schemas.microsoft.com/office/powerpoint/2010/main" val="1169623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85" y="138430"/>
            <a:ext cx="11100435" cy="6154934"/>
          </a:xfrm>
          <a:prstGeom prst="rect">
            <a:avLst/>
          </a:prstGeom>
        </p:spPr>
      </p:pic>
    </p:spTree>
    <p:extLst>
      <p:ext uri="{BB962C8B-B14F-4D97-AF65-F5344CB8AC3E}">
        <p14:creationId xmlns:p14="http://schemas.microsoft.com/office/powerpoint/2010/main" val="662386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Explanation from dashboard</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688109" y="1690688"/>
            <a:ext cx="1081578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dashboard shows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total customer revenue of ₹1.64 billion</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Customers make an average of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1.19 transactions per customer</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customer base is divided into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Occasional, Regular, and Loyal</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segments, </a:t>
            </a:r>
          </a:p>
          <a:p>
            <a:pPr marL="0" indent="0" eaLnBrk="0" fontAlgn="base" hangingPunct="0">
              <a:lnSpc>
                <a:spcPct val="150000"/>
              </a:lnSpc>
              <a:spcBef>
                <a:spcPct val="0"/>
              </a:spcBef>
              <a:spcAft>
                <a:spcPct val="0"/>
              </a:spcAft>
              <a:buClrTx/>
              <a:buSzTx/>
              <a:buNone/>
            </a:pPr>
            <a:r>
              <a:rPr lang="en-US" altLang="en-US" sz="2200" dirty="0" smtClean="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with Occasional customers forming the largest group. </a:t>
            </a:r>
          </a:p>
          <a:p>
            <a:pPr marL="342900" eaLnBrk="0" fontAlgn="base" hangingPunct="0">
              <a:lnSpc>
                <a:spcPct val="150000"/>
              </a:lnSpc>
              <a:spcBef>
                <a:spcPct val="0"/>
              </a:spcBef>
              <a:spcAft>
                <a:spcPct val="0"/>
              </a:spcAft>
              <a:buClrTx/>
              <a:buSzTx/>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Occasional customers contribute the highest revenue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followed by Regular </a:t>
            </a:r>
          </a:p>
          <a:p>
            <a:pPr marL="0" indent="0" eaLnBrk="0" fontAlgn="base" hangingPunct="0">
              <a:lnSpc>
                <a:spcPct val="150000"/>
              </a:lnSpc>
              <a:spcBef>
                <a:spcPct val="0"/>
              </a:spcBef>
              <a:spcAft>
                <a:spcPct val="0"/>
              </a:spcAft>
              <a:buClrTx/>
              <a:buSzTx/>
              <a:buNone/>
            </a:pP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smtClean="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and Loyal customers. </a:t>
            </a:r>
          </a:p>
          <a:p>
            <a:pPr marL="342900" eaLnBrk="0" fontAlgn="base" hangingPunct="0">
              <a:lnSpc>
                <a:spcPct val="15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Transaction frequency is highest among 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26–35 age group</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RFM analysis showing</a:t>
            </a:r>
          </a:p>
          <a:p>
            <a:pPr marL="0" indent="0" eaLnBrk="0" fontAlgn="base" hangingPunct="0">
              <a:lnSpc>
                <a:spcPct val="150000"/>
              </a:lnSpc>
              <a:spcBef>
                <a:spcPct val="0"/>
              </a:spcBef>
              <a:spcAft>
                <a:spcPct val="0"/>
              </a:spcAft>
              <a:buClrTx/>
              <a:buSzTx/>
              <a:buNone/>
            </a:pP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smtClean="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relationship</a:t>
            </a:r>
            <a:r>
              <a:rPr kumimoji="0" lang="en-US" altLang="en-US" sz="22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between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 frequency and monetary value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1832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9" name="AutoShape 12" descr="blob:https://web.whatsapp.com/477716c9-bd18-4c94-b8ba-9420c63d0693"/>
          <p:cNvSpPr>
            <a:spLocks noChangeAspect="1" noChangeArrowheads="1"/>
          </p:cNvSpPr>
          <p:nvPr/>
        </p:nvSpPr>
        <p:spPr bwMode="auto">
          <a:xfrm>
            <a:off x="155575" y="-144463"/>
            <a:ext cx="4332342" cy="43323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p:cNvPicPr>
            <a:picLocks noChangeAspect="1"/>
          </p:cNvPicPr>
          <p:nvPr/>
        </p:nvPicPr>
        <p:blipFill>
          <a:blip r:embed="rId2"/>
          <a:stretch>
            <a:fillRect/>
          </a:stretch>
        </p:blipFill>
        <p:spPr>
          <a:xfrm>
            <a:off x="838200" y="240789"/>
            <a:ext cx="10515600" cy="5965029"/>
          </a:xfrm>
          <a:prstGeom prst="rect">
            <a:avLst/>
          </a:prstGeom>
        </p:spPr>
      </p:pic>
    </p:spTree>
    <p:extLst>
      <p:ext uri="{BB962C8B-B14F-4D97-AF65-F5344CB8AC3E}">
        <p14:creationId xmlns:p14="http://schemas.microsoft.com/office/powerpoint/2010/main" val="728843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Explanation from Dashboard</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838200" y="1599094"/>
            <a:ext cx="10996448"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eaLnBrk="0" fontAlgn="base" hangingPunct="0">
              <a:lnSpc>
                <a:spcPct val="100000"/>
              </a:lnSpc>
              <a:spcBef>
                <a:spcPct val="0"/>
              </a:spcBef>
              <a:spcAft>
                <a:spcPct val="0"/>
              </a:spcAft>
              <a:buClrTx/>
              <a:buSzTx/>
            </a:pPr>
            <a:r>
              <a:rPr lang="en-US" altLang="en-US" sz="2200" dirty="0">
                <a:solidFill>
                  <a:schemeClr val="tx1"/>
                </a:solidFill>
                <a:latin typeface="Times New Roman" panose="02020603050405020304" pitchFamily="18" charset="0"/>
                <a:cs typeface="Times New Roman" panose="02020603050405020304" pitchFamily="18" charset="0"/>
              </a:rPr>
              <a:t>T</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 dashboard shows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total customer revenue of ₹1.64 billion</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an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average customer</a:t>
            </a:r>
          </a:p>
          <a:p>
            <a:pPr marL="0" indent="0" eaLnBrk="0" fontAlgn="base" hangingPunct="0">
              <a:lnSpc>
                <a:spcPct val="100000"/>
              </a:lnSpc>
              <a:spcBef>
                <a:spcPct val="0"/>
              </a:spcBef>
              <a:spcAft>
                <a:spcPct val="0"/>
              </a:spcAft>
              <a:buClrTx/>
              <a:buSzTx/>
              <a:buNone/>
            </a:pPr>
            <a:r>
              <a:rPr lang="en-US" altLang="en-US" sz="2200" b="1" dirty="0" smtClean="0">
                <a:solidFill>
                  <a:schemeClr val="tx1"/>
                </a:solidFill>
                <a:latin typeface="Times New Roman" panose="02020603050405020304" pitchFamily="18" charset="0"/>
                <a:cs typeface="Times New Roman" panose="02020603050405020304" pitchFamily="18" charset="0"/>
              </a:rPr>
              <a:t>     </a:t>
            </a:r>
            <a:r>
              <a:rPr lang="en-US" altLang="en-US" sz="2200" b="1" dirty="0">
                <a:solidFill>
                  <a:schemeClr val="tx1"/>
                </a:solidFill>
                <a:latin typeface="Times New Roman" panose="02020603050405020304" pitchFamily="18" charset="0"/>
                <a:cs typeface="Times New Roman" panose="02020603050405020304" pitchFamily="18" charset="0"/>
              </a:rPr>
              <a:t>monetary value of ₹2.12K</a:t>
            </a:r>
            <a:r>
              <a:rPr lang="en-US" altLang="en-US" sz="2200" dirty="0">
                <a:solidFill>
                  <a:schemeClr val="tx1"/>
                </a:solidFill>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eaLnBrk="0" fontAlgn="base" hangingPunct="0">
              <a:lnSpc>
                <a:spcPct val="100000"/>
              </a:lnSpc>
              <a:spcBef>
                <a:spcPct val="0"/>
              </a:spcBef>
              <a:spcAft>
                <a:spcPct val="0"/>
              </a:spcAft>
              <a:buClrTx/>
              <a:buSzTx/>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Occasional customers generate the highest total revenue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followed by Regular and Loyal    </a:t>
            </a:r>
            <a:r>
              <a:rPr kumimoji="0" lang="en-US" altLang="en-US" sz="22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lang="en-US" altLang="en-US" sz="2200" dirty="0" smtClean="0">
                <a:solidFill>
                  <a:schemeClr val="tx1"/>
                </a:solidFill>
                <a:latin typeface="Times New Roman" panose="02020603050405020304" pitchFamily="18" charset="0"/>
                <a:cs typeface="Times New Roman" panose="02020603050405020304" pitchFamily="18" charset="0"/>
              </a:rPr>
              <a:t> customers</a:t>
            </a:r>
            <a:r>
              <a:rPr lang="en-US" altLang="en-US" sz="2200" dirty="0">
                <a:solidFill>
                  <a:schemeClr val="tx1"/>
                </a:solidFill>
                <a:latin typeface="Times New Roman" panose="02020603050405020304" pitchFamily="18" charset="0"/>
                <a:cs typeface="Times New Roman" panose="02020603050405020304" pitchFamily="18" charset="0"/>
              </a:rPr>
              <a:t>. </a:t>
            </a:r>
            <a:endParaRPr lang="en-US" altLang="en-US" sz="2200" dirty="0" smtClean="0">
              <a:solidFill>
                <a:schemeClr val="tx1"/>
              </a:solidFill>
              <a:latin typeface="Times New Roman" panose="02020603050405020304" pitchFamily="18" charset="0"/>
              <a:cs typeface="Times New Roman" panose="02020603050405020304" pitchFamily="18" charset="0"/>
            </a:endParaRPr>
          </a:p>
          <a:p>
            <a:pPr marL="342900" eaLnBrk="0" fontAlgn="base" hangingPunct="0">
              <a:lnSpc>
                <a:spcPct val="100000"/>
              </a:lnSpc>
              <a:spcBef>
                <a:spcPct val="0"/>
              </a:spcBef>
              <a:spcAft>
                <a:spcPct val="0"/>
              </a:spcAft>
              <a:buClrTx/>
              <a:buSzTx/>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Loyal customers have the highest average monetary value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compared with Regular and Occasional customers. </a:t>
            </a:r>
          </a:p>
          <a:p>
            <a:pPr marL="342900" eaLnBrk="0" fontAlgn="base" hangingPunct="0">
              <a:lnSpc>
                <a:spcPct val="100000"/>
              </a:lnSpc>
              <a:spcBef>
                <a:spcPct val="0"/>
              </a:spcBef>
              <a:spcAft>
                <a:spcPct val="0"/>
              </a:spcAft>
              <a:buClrTx/>
              <a:buSzTx/>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26–35 age group contributes the highest revenue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while account balances vary across different age groups. </a:t>
            </a:r>
          </a:p>
          <a:p>
            <a:pPr marL="342900" eaLnBrk="0" fontAlgn="base" hangingPunct="0">
              <a:lnSpc>
                <a:spcPct val="100000"/>
              </a:lnSpc>
              <a:spcBef>
                <a:spcPct val="0"/>
              </a:spcBef>
              <a:spcAft>
                <a:spcPct val="0"/>
              </a:spcAft>
              <a:buClrTx/>
              <a:buSzTx/>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Mumbai, New Delhi, Bangalore, Gurgaon, Delhi, and Kolkata</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are among the locations contributing significant customer revenue. </a:t>
            </a:r>
          </a:p>
        </p:txBody>
      </p:sp>
    </p:spTree>
    <p:extLst>
      <p:ext uri="{BB962C8B-B14F-4D97-AF65-F5344CB8AC3E}">
        <p14:creationId xmlns:p14="http://schemas.microsoft.com/office/powerpoint/2010/main" val="33021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33646-65EA-1B81-4339-510CFE61BA87}"/>
              </a:ext>
            </a:extLst>
          </p:cNvPr>
          <p:cNvSpPr>
            <a:spLocks noGrp="1"/>
          </p:cNvSpPr>
          <p:nvPr>
            <p:ph type="title"/>
          </p:nvPr>
        </p:nvSpPr>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CONCLUSION </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B474EAA-8140-C7C2-5B8F-D3320204CCEA}"/>
              </a:ext>
            </a:extLst>
          </p:cNvPr>
          <p:cNvSpPr>
            <a:spLocks noGrp="1"/>
          </p:cNvSpPr>
          <p:nvPr>
            <p:ph type="body" idx="1"/>
          </p:nvPr>
        </p:nvSpPr>
        <p:spPr>
          <a:xfrm>
            <a:off x="966651" y="1825625"/>
            <a:ext cx="10276116" cy="3260181"/>
          </a:xfrm>
        </p:spPr>
        <p:txBody>
          <a:bodyPr>
            <a:normAutofit/>
          </a:bodyPr>
          <a:lstStyle/>
          <a:p>
            <a:pPr marL="114300" indent="0">
              <a:lnSpc>
                <a:spcPct val="100000"/>
              </a:lnSpc>
              <a:buNone/>
            </a:pPr>
            <a:r>
              <a:rPr lang="en-US" sz="2400" dirty="0">
                <a:latin typeface="Times New Roman" panose="02020603050405020304" pitchFamily="18" charset="0"/>
                <a:cs typeface="Times New Roman" panose="02020603050405020304" pitchFamily="18" charset="0"/>
              </a:rPr>
              <a:t>The Bank Customer Segmentation project provides a clear understanding of customer demographics, transaction behavior, and spending patterns. The analysis segments customers into Occasional, Regular, and Loyal groups and uses RFM analysis to understand their transaction activity and monetary value. The dashboard also highlights differences in revenue across age groups, customer segments, and locations, providing useful insights into overall customer behavior and profitability.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918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1A3F1-FCA5-EA15-EBA2-5DD072E82FA8}"/>
              </a:ext>
            </a:extLst>
          </p:cNvPr>
          <p:cNvSpPr>
            <a:spLocks noGrp="1"/>
          </p:cNvSpPr>
          <p:nvPr>
            <p:ph type="title"/>
          </p:nvPr>
        </p:nvSpPr>
        <p:spPr>
          <a:xfrm>
            <a:off x="838200" y="0"/>
            <a:ext cx="10515600" cy="1325563"/>
          </a:xfrm>
        </p:spPr>
        <p:txBody>
          <a:bodyPr/>
          <a:lstStyle/>
          <a:p>
            <a:pPr algn="ctr"/>
            <a:r>
              <a:rPr lang="en-IN" dirty="0">
                <a:solidFill>
                  <a:srgbClr val="FF0000"/>
                </a:solidFill>
              </a:rPr>
              <a:t> </a:t>
            </a:r>
          </a:p>
        </p:txBody>
      </p:sp>
      <p:sp>
        <p:nvSpPr>
          <p:cNvPr id="4" name="TextBox 3">
            <a:extLst>
              <a:ext uri="{FF2B5EF4-FFF2-40B4-BE49-F238E27FC236}">
                <a16:creationId xmlns:a16="http://schemas.microsoft.com/office/drawing/2014/main" id="{C00CC7FC-2564-AD29-0A89-B98EBA83521B}"/>
              </a:ext>
            </a:extLst>
          </p:cNvPr>
          <p:cNvSpPr txBox="1"/>
          <p:nvPr/>
        </p:nvSpPr>
        <p:spPr>
          <a:xfrm>
            <a:off x="1611086" y="2188029"/>
            <a:ext cx="7532914" cy="1446550"/>
          </a:xfrm>
          <a:prstGeom prst="rect">
            <a:avLst/>
          </a:prstGeom>
          <a:noFill/>
        </p:spPr>
        <p:txBody>
          <a:bodyPr wrap="square">
            <a:sp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lang="en-IN" sz="2000" b="0" i="0" u="none" strike="noStrike" cap="none" dirty="0">
              <a:solidFill>
                <a:schemeClr val="dk1"/>
              </a:solidFill>
              <a:latin typeface="Calibri"/>
              <a:ea typeface="Calibri"/>
              <a:cs typeface="Calibri"/>
              <a:sym typeface="Calibri"/>
            </a:endParaRPr>
          </a:p>
        </p:txBody>
      </p:sp>
      <p:pic>
        <p:nvPicPr>
          <p:cNvPr id="5" name="Google Shape;116;p5">
            <a:extLst>
              <a:ext uri="{FF2B5EF4-FFF2-40B4-BE49-F238E27FC236}">
                <a16:creationId xmlns:a16="http://schemas.microsoft.com/office/drawing/2014/main" id="{038F816E-9F90-65DF-19BF-7AE594BFB63D}"/>
              </a:ext>
            </a:extLst>
          </p:cNvPr>
          <p:cNvPicPr preferRelativeResize="0"/>
          <p:nvPr/>
        </p:nvPicPr>
        <p:blipFill rotWithShape="1">
          <a:blip r:embed="rId2">
            <a:alphaModFix/>
          </a:blip>
          <a:srcRect/>
          <a:stretch/>
        </p:blipFill>
        <p:spPr>
          <a:xfrm>
            <a:off x="6466516" y="1850749"/>
            <a:ext cx="4465643" cy="2834317"/>
          </a:xfrm>
          <a:prstGeom prst="rect">
            <a:avLst/>
          </a:prstGeom>
          <a:noFill/>
          <a:ln>
            <a:noFill/>
          </a:ln>
        </p:spPr>
      </p:pic>
    </p:spTree>
    <p:extLst>
      <p:ext uri="{BB962C8B-B14F-4D97-AF65-F5344CB8AC3E}">
        <p14:creationId xmlns:p14="http://schemas.microsoft.com/office/powerpoint/2010/main" val="3137157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1575</TotalTime>
  <Words>634</Words>
  <Application>Microsoft Office PowerPoint</Application>
  <PresentationFormat>Widescreen</PresentationFormat>
  <Paragraphs>80</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Times New Roman</vt:lpstr>
      <vt:lpstr>Arial</vt:lpstr>
      <vt:lpstr>Calibri</vt:lpstr>
      <vt:lpstr>Libre Baskerville</vt:lpstr>
      <vt:lpstr>Office Theme</vt:lpstr>
      <vt:lpstr>PowerPoint Presentation</vt:lpstr>
      <vt:lpstr>Agenda (This should be the PPT flow)  </vt:lpstr>
      <vt:lpstr>Project Overview</vt:lpstr>
      <vt:lpstr>Understanding the Dataset</vt:lpstr>
      <vt:lpstr>                Data Preprocessing </vt:lpstr>
      <vt:lpstr>Exploratory Data Analysis </vt:lpstr>
      <vt:lpstr>Explanation from Dashboard</vt:lpstr>
      <vt:lpstr>PowerPoint Presentation</vt:lpstr>
      <vt:lpstr>  Explanation From Dashboard</vt:lpstr>
      <vt:lpstr>PowerPoint Presentation</vt:lpstr>
      <vt:lpstr>Explanation from dashboard</vt:lpstr>
      <vt:lpstr>PowerPoint Presentation</vt:lpstr>
      <vt:lpstr>Explanation from Dashboard</vt:lpstr>
      <vt:lpstr>CONCLUSION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USER</cp:lastModifiedBy>
  <cp:revision>17</cp:revision>
  <dcterms:created xsi:type="dcterms:W3CDTF">2021-02-16T05:19:01Z</dcterms:created>
  <dcterms:modified xsi:type="dcterms:W3CDTF">2026-09-27T16:17:02Z</dcterms:modified>
</cp:coreProperties>
</file>